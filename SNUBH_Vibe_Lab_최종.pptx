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6" r:id="rId6"/>
    <p:sldId id="259" r:id="rId7"/>
    <p:sldId id="260" r:id="rId8"/>
    <p:sldId id="261" r:id="rId9"/>
    <p:sldId id="267" r:id="rId10"/>
    <p:sldId id="274" r:id="rId11"/>
    <p:sldId id="265" r:id="rId12"/>
    <p:sldId id="276" r:id="rId13"/>
    <p:sldId id="277" r:id="rId14"/>
    <p:sldId id="264" r:id="rId15"/>
    <p:sldId id="275" r:id="rId16"/>
    <p:sldId id="268" r:id="rId17"/>
    <p:sldId id="269" r:id="rId18"/>
    <p:sldId id="270" r:id="rId19"/>
    <p:sldId id="271" r:id="rId20"/>
    <p:sldId id="272" r:id="rId21"/>
    <p:sldId id="273" r:id="rId22"/>
    <p:sldId id="278" r:id="rId23"/>
    <p:sldId id="282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307" r:id="rId33"/>
    <p:sldId id="295" r:id="rId34"/>
    <p:sldId id="296" r:id="rId35"/>
    <p:sldId id="297" r:id="rId36"/>
    <p:sldId id="288" r:id="rId37"/>
    <p:sldId id="289" r:id="rId38"/>
    <p:sldId id="298" r:id="rId39"/>
    <p:sldId id="299" r:id="rId40"/>
    <p:sldId id="300" r:id="rId41"/>
    <p:sldId id="301" r:id="rId42"/>
    <p:sldId id="302" r:id="rId43"/>
    <p:sldId id="303" r:id="rId44"/>
    <p:sldId id="305" r:id="rId45"/>
    <p:sldId id="306" r:id="rId46"/>
    <p:sldId id="304" r:id="rId47"/>
    <p:sldId id="308" r:id="rId48"/>
    <p:sldId id="309" r:id="rId49"/>
    <p:sldId id="310" r:id="rId50"/>
    <p:sldId id="311" r:id="rId51"/>
    <p:sldId id="262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wangsi.github.io/researcher-k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2026.05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for Established Clinicians</a:t>
            </a:r>
            <a:endParaRPr sz="1100" b="1" spc="132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분당서울대</a:t>
            </a: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병원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  <a:p>
            <a:pPr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중견교수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바이브랩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223" y="2752181"/>
            <a:ext cx="128016" cy="640080"/>
          </a:xfrm>
          <a:prstGeom prst="rect">
            <a:avLst/>
          </a:prstGeom>
          <a:solidFill>
            <a:srgbClr val="1F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56C8C0-887C-AE83-B79D-DCBCF60B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01" y="200379"/>
            <a:ext cx="847995" cy="879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01-readme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01  · 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Vibe Lab for Established Clinicians.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Vibe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coding의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분당서울대</a:t>
            </a:r>
            <a:r>
              <a:rPr lang="ko-KR" alt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병원교수 코어그룹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월 1회 모임.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잠정적으로 4주차 수요일 5시-7시. 짧은 강의 + 핸즈온 + Show &amp; Tell.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19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개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진료과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28 + @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교수님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Anchor.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병원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코어그룹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지원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완료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Anthropic AI for Science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크레딧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신청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89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Public.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연말까지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SNUBH AI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Cookbook을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MIT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라이선스로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공개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Research Fair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발표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AAA14AA-5CFF-F6F0-FB6E-1874152DCB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"/>
          <a:stretch>
            <a:fillRect/>
          </a:stretch>
        </p:blipFill>
        <p:spPr>
          <a:xfrm>
            <a:off x="7445829" y="1053192"/>
            <a:ext cx="4634718" cy="58584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-vibe-lab  /  02-why-established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-clinicians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02  ·  WHY ESTABLISHED CLINICIANS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왜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중견교수인가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?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Vibe coding의 본질은 "내가 무엇을 원하는지 정확히 아는 것". 코드는 AI가 짠다.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만들고 싶은 것이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"이것만 자동화되면 좋겠는데" 가 수십 개씩 쌓여 있다 — 진짜 자산.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바로 적용할 수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본인이 만든 도구를 본인 진료·연구에 도입할 결정권이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솔직할 수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직급이 비슷한 동료끼리. "여기서 막혔습니다"가 자유로운 모임.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본업이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따로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있다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주니어는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우리는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본업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도구를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얹는다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5B3C-5BB0-8229-AAF3-C4EB95B4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1747C-2C43-FD47-9AAB-8C855C1257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2AFEDF-7D3B-1224-E31B-357C16C5E238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AE4616-948A-AB42-822A-376E22DCC279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65FB71-5C07-82F1-6201-C5C24682488E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76966-447F-FECD-8118-3DFE85CE435D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-vibe-lab  /  02-why-established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-clinicians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7BE2D6E0-18AB-EC23-C1E6-4A040E3A7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7A8D22-67E6-3A9B-9EDE-951E6219E3DD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0A5002A-FFC2-1260-AF30-7268FE34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21" y="1463040"/>
            <a:ext cx="4710367" cy="487908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FE6D4C2-51A5-0352-71AF-E039CEAA5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033" y="2242301"/>
            <a:ext cx="589885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03-house-rules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LAB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랩운영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E84172E-940B-E270-359C-BABDD153C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3" y="3381134"/>
            <a:ext cx="6646492" cy="3341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0</a:t>
            </a:r>
            <a:r>
              <a:rPr lang="en-US"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4</a:t>
            </a: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· METHODS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SECTION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무엇을 할 것인가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2628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548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월 1회. 짧은 강의 + 핸즈온 + Show &amp; Tell. 숙제 없음. 시험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03-format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4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MEETING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조용히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시작해서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8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개월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간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같이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진행합니다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첫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회차에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셋업을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다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함께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진행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합니다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(Claude Code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GitHub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설정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).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사전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가이드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제공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주기.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매월 4주차 수요일 17:00 – 19:00. 회식 포함.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첫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회차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2026년 5월 27일 (수) 17:00. 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동 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11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층 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4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회의실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회식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: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판교 </a:t>
            </a:r>
            <a:r>
              <a:rPr lang="ko-KR" altLang="en-US" sz="16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루프일레븐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저녁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7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준비물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노트북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 AI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유료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계정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추천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ChatGPT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 가능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테크 헬퍼.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막히면 옆에서 풀어드린다. "모르는 것은 자랑이다."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04-outputs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04  ·  OUTPUTS BY YEAR-END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연말까지 들고 나갈 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41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개인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도구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한 개,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집단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자산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하나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그리고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발표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혹은 논문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Personal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617720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7548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진료·연구에 실제로 쓰는 AI 도구 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3892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 공개 레포 (오픈 소스 라이선스)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2297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22976"/>
            <a:ext cx="4846320" cy="25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Research Fair </a:t>
            </a:r>
            <a:r>
              <a:rPr sz="13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발표</a:t>
            </a: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</a:t>
            </a:r>
            <a:r>
              <a:rPr lang="en-US"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8</a:t>
            </a: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개월 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Collective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4617720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0" y="47548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SNUBH AI Cookbook (검증된 프롬프트·워크플로우)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3892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MIT 라이선스로 GitHub에 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52297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22976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Position paper · 컨소시엄 모델 자체에 대한 논문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F48D-42EA-98DB-88AB-4A1F9945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A2FABB-7D9F-2335-2ED8-33FF0BB3B93B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74FF6-8A4A-EC0F-81F5-7A12212E4DB7}"/>
              </a:ext>
            </a:extLst>
          </p:cNvPr>
          <p:cNvSpPr txBox="1"/>
          <p:nvPr/>
        </p:nvSpPr>
        <p:spPr>
          <a:xfrm>
            <a:off x="548640" y="45720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0</a:t>
            </a:r>
            <a:r>
              <a:rPr lang="en-US"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5</a:t>
            </a: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· </a:t>
            </a:r>
            <a:r>
              <a:rPr lang="en-US" sz="110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EXAMPLES</a:t>
            </a:r>
            <a:endParaRPr sz="1100" b="0" spc="80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4" name="Picture 3" descr="sig_on_navy.png">
            <a:extLst>
              <a:ext uri="{FF2B5EF4-FFF2-40B4-BE49-F238E27FC236}">
                <a16:creationId xmlns:a16="http://schemas.microsoft.com/office/drawing/2014/main" id="{6E680498-05BB-AFE8-A3E4-B4425161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2E8D11-2C17-DC99-F9A1-882C3DC8BA11}"/>
              </a:ext>
            </a:extLst>
          </p:cNvPr>
          <p:cNvSpPr txBox="1"/>
          <p:nvPr/>
        </p:nvSpPr>
        <p:spPr>
          <a:xfrm>
            <a:off x="548640" y="25603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SECTION  ·  0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sz="1100" b="1" spc="132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C4DF0-4C8E-B32D-73C6-0ECF5C758E32}"/>
              </a:ext>
            </a:extLst>
          </p:cNvPr>
          <p:cNvSpPr txBox="1"/>
          <p:nvPr/>
        </p:nvSpPr>
        <p:spPr>
          <a:xfrm>
            <a:off x="548640" y="2971800"/>
            <a:ext cx="10515600" cy="974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필요는 발명의 어머니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65C987C-FBFE-333B-E846-4EB0A698592F}"/>
              </a:ext>
            </a:extLst>
          </p:cNvPr>
          <p:cNvCxnSpPr/>
          <p:nvPr/>
        </p:nvCxnSpPr>
        <p:spPr>
          <a:xfrm>
            <a:off x="548640" y="452628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8D6676-1BA6-ECFC-478E-DA74D81C27A4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  <p:extLst>
      <p:ext uri="{BB962C8B-B14F-4D97-AF65-F5344CB8AC3E}">
        <p14:creationId xmlns:p14="http://schemas.microsoft.com/office/powerpoint/2010/main" val="1163251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email-agent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email-agent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Mac이 매일 두 번, 메일을 정리해 폰으로 보낸다.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macOS 상주 에이전트. 하루 2회 Gmail 최근 20건을 Claude로 batch 분류 → iPhone 푸시. 월 ~$1.5.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LAUNCHAGENT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Batch 분류.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 API 단 1회 호출로 20건 분류 — 개별 호출 대비 토큰 절반 이하.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3단계 분류.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중요 (직접 답장 필요) / 일반 (참고용) / 낮음 (광고 · 알림). 푸시에 색상 코드로 표시.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서류 요청 자동 감지.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이력서 · 통장사본 · GCP 인증서 등 요청 → Gmail 임시보관함에 답장 초안 저장.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256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매일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8시 / 18시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자동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macOS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LaunchAgent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ntfy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(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무료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)로 iPhone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푸시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알림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65070A6-2C3F-1A33-D3EF-9FED285A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465960" y="1440894"/>
            <a:ext cx="3003641" cy="225273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9AEC2EA-CD40-8D3A-3029-E3CA758B6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63" y="3277960"/>
            <a:ext cx="1647717" cy="3580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ProstateMRICalculator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ProstateMRICalculator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00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MRI 한 장 →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전립선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부피</a:t>
            </a:r>
            <a:endParaRPr sz="38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안드로이드 앱. MRI 측정값(W·H·D)을 ML Kit OCR로 자동 추출 → ellipsoid 공식으로 부피 계산 → BPH 5단계 분류.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KOTLIN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ON-DEVICE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On-device OCR.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ML Kit. 인터넷 불필요, PHI도 폰을 떠나지 않음.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Yellow mask preprocess.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MRI 측정 오버레이가 노란색이라는 점을 이용. OCR 정확도가 올라감.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BPH 컬러 코딩.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&lt;20 mL Blue · 20–30 Green · 30–50 Amber · 50–80 Orange · &gt;80 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Manual override.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OCR이 놓친 값은 수정 가능. 임상 보조 도구라는 위치 유지.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857068A-A858-24F5-7BDE-D59C3A85EBE0}"/>
              </a:ext>
            </a:extLst>
          </p:cNvPr>
          <p:cNvGrpSpPr/>
          <p:nvPr/>
        </p:nvGrpSpPr>
        <p:grpSpPr>
          <a:xfrm>
            <a:off x="471170" y="-2"/>
            <a:ext cx="10913109" cy="6858002"/>
            <a:chOff x="471171" y="-2"/>
            <a:chExt cx="10902828" cy="6835958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7011196-065C-5259-1CF2-9CDB79266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171" y="-2"/>
              <a:ext cx="3076661" cy="6835957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C06B955-608D-3930-518E-DCD1E8975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3980" y="0"/>
              <a:ext cx="3076661" cy="6835956"/>
            </a:xfrm>
            <a:prstGeom prst="rect">
              <a:avLst/>
            </a:prstGeom>
          </p:spPr>
        </p:pic>
        <p:pic>
          <p:nvPicPr>
            <p:cNvPr id="28" name="pro3">
              <a:hlinkClick r:id="" action="ppaction://media"/>
              <a:extLst>
                <a:ext uri="{FF2B5EF4-FFF2-40B4-BE49-F238E27FC236}">
                  <a16:creationId xmlns:a16="http://schemas.microsoft.com/office/drawing/2014/main" id="{6DE50CD8-D78F-AF60-0043-8B4E2F512F14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7"/>
            <a:stretch>
              <a:fillRect/>
            </a:stretch>
          </p:blipFill>
          <p:spPr>
            <a:xfrm>
              <a:off x="7086444" y="881"/>
              <a:ext cx="4287555" cy="68121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00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PACS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촬영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→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음성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소견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→ </a:t>
            </a:r>
            <a:r>
              <a:rPr lang="en-US"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Google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Sheets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한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화면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안드로이드 앱. PACS 화면을 카메라로 찍고 → OCR로 환자 정보 추출 → 음성으로 소견 입력 → Google Sheets에 자동 저장.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KOTLIN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ML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SHEETS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OCR 자동 추출.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 ID · 날짜 · 영상검사명을 ML Kit Text Recognition v2로 — 카메라만 비추면 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음성 소견 입력.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Cloud Speech-to-Text의 medical_dictation 모델 — 의학 용어 인식률이 높음.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비뇨생식계 특화.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전립선 · 신장 · 방광 등 검사명을 자동 분류. 본인 진료에 바로 쓰는 도구.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Google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Sheets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자동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저장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날짜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환자ID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검사명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소견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입력시각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5컬럼. Service Account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인증으로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백엔드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없이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935F-6A25-A9E8-D3FE-704776D0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5B9A71-891B-A5D7-AB9E-0E4B849538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0A57E6-D616-B047-C7A6-226070F6D29B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8B044C-FEBB-5165-C096-A973D925A799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72CD1D-E588-AC04-4108-6CBA9BA5DC2B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741D7-5B23-E66A-1654-D969199207B0}"/>
              </a:ext>
            </a:extLst>
          </p:cNvPr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F48632C3-F366-5A06-E009-E442EAA0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133B19-630F-2DB2-A4D3-F4DEBA823A9C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75312AD-3A56-E83D-9306-B96F65D77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974571"/>
            <a:ext cx="3084739" cy="41129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607DEC-6FB3-B1A5-BCAE-76686FB0B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490" y="934806"/>
            <a:ext cx="2441581" cy="542573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E0BB061-D54B-8B88-536B-31690C3AED7D}"/>
              </a:ext>
            </a:extLst>
          </p:cNvPr>
          <p:cNvSpPr/>
          <p:nvPr/>
        </p:nvSpPr>
        <p:spPr>
          <a:xfrm>
            <a:off x="2863970" y="3341296"/>
            <a:ext cx="575094" cy="2012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269538A-411F-0A6F-708B-96490A84B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553" y="934808"/>
            <a:ext cx="2441583" cy="54257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35B343-E84D-1F8E-B9ED-97DC079102B1}"/>
              </a:ext>
            </a:extLst>
          </p:cNvPr>
          <p:cNvSpPr/>
          <p:nvPr/>
        </p:nvSpPr>
        <p:spPr>
          <a:xfrm>
            <a:off x="5360234" y="2303251"/>
            <a:ext cx="575094" cy="2012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1C05C84-3653-94EA-0E59-1C2D96B16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196" y="934808"/>
            <a:ext cx="2441581" cy="54257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38314D7-5A91-3A69-3D73-3C15AA00F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1817" y="4286630"/>
            <a:ext cx="6602083" cy="207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6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dicom-viewer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dicom-viewer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강의용 가벼운 DICOM 뷰어, 단일 파일.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강의 자료 PPT 제작에 특화된 Windows DICOM 뷰어. dicom_viewer.py 한 파일로 실행 — 60MB EXE 빌드도 가능.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PYQT6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x</a:t>
            </a:r>
            <a:r>
              <a:rPr 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플로팅</a:t>
            </a:r>
            <a:r>
              <a:rPr lang="ko-KR" alt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레이아웃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lang="en-US" sz="1400" b="0" dirty="0">
                <a:latin typeface="Inter"/>
                <a:ea typeface="Pretendard"/>
                <a:cs typeface="Inter"/>
              </a:rPr>
              <a:t>UI </a:t>
            </a:r>
            <a:r>
              <a:rPr lang="ko-KR" altLang="en-US" sz="1400" b="0" dirty="0">
                <a:latin typeface="Inter"/>
                <a:ea typeface="Pretendard"/>
                <a:cs typeface="Inter"/>
              </a:rPr>
              <a:t>모두 삭제</a:t>
            </a:r>
            <a:r>
              <a:rPr lang="en-US" altLang="ko-KR" sz="1400" b="0" dirty="0">
                <a:latin typeface="Inter"/>
                <a:ea typeface="Pretendard"/>
                <a:cs typeface="Inter"/>
              </a:rPr>
              <a:t>,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Space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키로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1x1 ↔ 2x2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토글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패널별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W/L · zoom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슬라이스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위치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유지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Cross-reference (X).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한 패널에서 클릭하면 다른 패널이 동일 3D 좌표로 자동 이동. Axial ↔ Sag ↔ Cor.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Ctrl+C → PowerPoint.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활성 패널을 클립보드로. PPT에 바로 붙여넣기. 강의 슬라이드 만들 때 단축이 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다언어</a:t>
            </a:r>
            <a:r>
              <a:rPr lang="ko-KR" alt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지원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한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일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영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중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스페인어</a:t>
            </a:r>
            <a:endParaRPr sz="14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33D235D0-9D1A-557B-079B-A1433D44F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411480"/>
            <a:ext cx="11217728" cy="6060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researcher-kg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researcher-kg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연구자 한 명의 출판 이력 — 한 화면에.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단일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페이지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웹앱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OpenAlex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API로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출판물·공저자·주제·저널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IF를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시각화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백엔드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없음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API 키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없음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HTML/JS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OPENALEX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Disambiguation.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이름 + 소속 + 전공으로 동명이인 구분. ORCID 직접 조회도 지원.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Bubble Timeline.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연도 × 저널 × 인용 수 × 주제 — 저자 역할(1저자/교신/중간)까지 색상 인코딩.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3D · Network · Stream.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Three.js 3D timeline + D3 force-directed co-author network + topic streamgraph.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889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Live demo.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hwangsi.github.io/researcher-kg/  —  index.html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더블클릭만으로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로컬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실행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br>
              <a:rPr 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</a:br>
            <a:br>
              <a:rPr 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</a:br>
            <a:r>
              <a:rPr lang="en-US" altLang="ko-KR" b="1" u="sng" dirty="0">
                <a:hlinkClick r:id="rId3"/>
              </a:rPr>
              <a:t>https://hwangsi.github.io/researcher-kg/</a:t>
            </a:r>
            <a:endParaRPr sz="14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windows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10515600" cy="9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Preinstall Guide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Claude Pro · Claude Desktop · Git for Windows. WSL 불필요.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step-0-version-check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0  ·  WINDOWS  10 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버전 확인.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Windows 11 사용자는 이 단계를 건너뛰고 Step 1로 가시면 됩니다. Win10 사용자만 해당.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버전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68580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Win + R   →   winver   →  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11.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 Terminal이 기본 내장. Step 1로 바로.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10.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 Terminal 설치 권장 — Microsoft Store에서 "Windows Terminal" 검색.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step-1-claude-pro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Pro 구독, $20/월.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ChatGPT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Plus도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가능하지만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강사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시연은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Claude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기준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Gemini는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워크플로우가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달라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권장하지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않습니다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 접속.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Sign up → 이메일 가입 또는 Google 로그인.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Upgrade Plan.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좌측 하단 프로필 → Upgrade Plan → Pro 선택 → 결제 정보.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Pro 뱃지 확인.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결제 완료 시 프로필 아래 "Pro" 뱃지가 표시됩니다.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93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이미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ChatGPT Plus.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그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도구로도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참여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가능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(Codex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앱 설치 추천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단,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시연은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Claude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기준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step-2-claude-desktop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INSTALL 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Desktop 앱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Step 1에서 만든 계정으로 로그인. 설치 마법사는 모두 기본 옵션 그대로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claude.ai/download 접속.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브라우저로 이동.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Download for Windows.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.exe 설치 파일 다운로드.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.exe 더블클릭.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설치 마법사 진행 — 기본 옵션 그대로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시작 메뉴 → Claude.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실행 후 Step 1에서 만든 계정으로 로그인.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step-3-git-for-windows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GIT  (핵심)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 for Windows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Claude Desktop의 코드 실행 기능에 필수. 먼저 이미 깔려 있는지 확인.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3-1.  이미 설치돼 있나요?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544568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4617720"/>
            <a:ext cx="512064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git 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버전 출력 → 완료, 체크리스트로.
not recognized → 우측 3-2 진행.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3-2.  설치 (없을 때)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4544568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46177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gitforwindows.org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Download → Git-2.xx.x-64-bit.exe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0176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017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.exe 더블클릭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설치 마법사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38581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858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옵션은 기본값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Adjust PATH는 기본값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76986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698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Install → 2~5분 대기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PowerShell 새로 열고 git --version 재확인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F29641F-0D3A-ACED-5131-5CA9C9942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024" y="4655234"/>
            <a:ext cx="2827256" cy="11146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checklist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FINAL  · 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당일 바로 시작하려면.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아래 3가지가 모두 되면 끝. 안 되는 게 있으면 사전에 총무에게 연락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 에서 Pro 구독 활성화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Desktop 앱 로그인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PowerShell에서 git --version 실행 시 버전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167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 not recognized → PowerShell 창 완전히 닫고 새로 열기 (PATH 재적용). 안 되면 재부팅.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  #1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10515600" cy="200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HANDS-ON  #1· </a:t>
            </a:r>
            <a:b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설정</a:t>
            </a:r>
            <a:endParaRPr lang="en-US" altLang="ko-KR"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github.com 가입 → 이메일 인증 → 2FA → 첫 저장소. 함께 한 단계씩.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CB05-D204-ADE1-DE58-A1FC009B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55972F-5D71-839A-17E6-809E625134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0D2FF5-2D17-BB5E-3183-B7181C4D0851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018251-A848-426A-D878-1CF86A251943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EF602-153A-4140-ACD3-E26DABEE6BB5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70235-AC70-469B-5CD2-6B306FF3C42F}"/>
              </a:ext>
            </a:extLst>
          </p:cNvPr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step-1-signup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1785C2F0-BD59-7A8F-7462-AA2B905AE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EF649B-2D6C-B03A-3D0A-F3701FD7AEEA}"/>
              </a:ext>
            </a:extLst>
          </p:cNvPr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What is </a:t>
            </a:r>
            <a:r>
              <a:rPr lang="en-US" sz="1100" b="1" spc="132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Githup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and why?</a:t>
            </a:r>
            <a:endParaRPr sz="1100" b="1" spc="132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3B51E-2E43-B603-C449-73373827EF34}"/>
              </a:ext>
            </a:extLst>
          </p:cNvPr>
          <p:cNvSpPr txBox="1"/>
          <p:nvPr/>
        </p:nvSpPr>
        <p:spPr>
          <a:xfrm>
            <a:off x="548640" y="2148840"/>
            <a:ext cx="10515600" cy="662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https:// 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github.com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CEDF41E3-3377-A309-B71D-98AAA6403A75}"/>
              </a:ext>
            </a:extLst>
          </p:cNvPr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73E4FE-2F7C-1490-BE77-CDDE1511A339}"/>
              </a:ext>
            </a:extLst>
          </p:cNvPr>
          <p:cNvSpPr txBox="1"/>
          <p:nvPr/>
        </p:nvSpPr>
        <p:spPr>
          <a:xfrm>
            <a:off x="548639" y="3429000"/>
            <a:ext cx="10922181" cy="2613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 =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코드를 저장하고 공유하는 온라인 작업장코드를 내 컴퓨터에만 두지 않고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인터넷에 안전하게 저장해두는 곳</a:t>
            </a:r>
            <a:endParaRPr lang="en-US" altLang="ko-KR"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endParaRPr lang="en-US" altLang="ko-KR" sz="170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r>
              <a:rPr lang="ko-KR" altLang="en-US" sz="1700" b="1" dirty="0">
                <a:latin typeface="Inter"/>
                <a:ea typeface="Pretendard"/>
                <a:cs typeface="Inter"/>
              </a:rPr>
              <a:t>구글드라이브 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+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작업기록 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+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협업도구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합쳐진 서비스</a:t>
            </a:r>
            <a:endParaRPr lang="en-US" altLang="ko-KR"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왜 필요할까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?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백업컴퓨터가 고장 나도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코드가 사라지지 않는다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버전 관리 “어제는 잘 됐는데 오늘 망가짐” 상태에서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이전 버전으로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돌아갈 수 있다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lang="ko-KR" altLang="en-US" sz="1700" b="1" dirty="0">
                <a:latin typeface="Inter"/>
                <a:ea typeface="Pretendard"/>
                <a:cs typeface="Inter"/>
              </a:rPr>
              <a:t>협업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: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여러 사람이 같은 프로젝트를 같이 만들 수 있다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  <a:b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</a:b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AI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코딩 도구와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연결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: 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Codex, Claude Code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같은 도구가 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저장소를 읽고 수정하면서 더 편하게 개발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1AC177-C745-913B-63A0-23BA40448C18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9470FC1-B21D-6978-6AC3-9CEC141EF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729" y="1015637"/>
            <a:ext cx="4656910" cy="237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07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step-1-signup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SIGN 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github.com/signup.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이메일, 비밀번호, 그리고 사용자명. 사용자명만 신중하게.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브라우저에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68580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https://github.com/signup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평소 쓰는 것. 인증 메일을 받아야 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비밀번호.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15자 이상, 또는 8자 + 숫자 + 소문자.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사용자명.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영구 — 짧고 깔끔하게. 영문·숫자·하이픈만. 예: hwangsi, jeon-kihyun.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D423D58-6D20-4488-B958-7776AA14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1097279"/>
            <a:ext cx="4462090" cy="47258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step-2-verify-2fa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VERIFY  +  2FA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 인증 + 2단계 인증.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2024년부터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모든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contributor에게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2FA를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의무화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5분 더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투자할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있음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Organization </a:t>
            </a:r>
            <a:r>
              <a:rPr lang="en-US" sz="170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Githup</a:t>
            </a:r>
            <a:r>
              <a:rPr 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사용 필수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인증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받은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편지함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GitHub에서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온 6자리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코드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입력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못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받으면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스팸함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확인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2FA 켜기.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Settings → Password and authentication → Enable 2FA → 인증 앱 선택.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인증 앱.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Authenticator · 1Password · Microsoft Authenticator 중 편한 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Recovery codes.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꼭 다운로드해서 안전한 곳에. 폰 분실 시 계정 복구의 유일한 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step-3-first-repo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FIRST 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첫 저장소, 첫 커밋.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우상단 + 버튼 → New repository. 이름은 hello-world. 끝까지 가면 핸즈온 #1 완료.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Repository name.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hello-world (또는 본인 사용자명). 영문·숫자·하이픈.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Public 선택.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처음엔 public이 편함. 나중에 언제든 private 변경 가능.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Add a README 체크.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README.md가 자동 생성 — 그게 첫 commit이 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Create repository.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버튼 클릭. 끝 — github.com/본인사용자명/hello-world 가 살아있다.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TERMINAL  →  CLAUDE  → 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606040"/>
            <a:ext cx="10971168" cy="2008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 on #2</a:t>
            </a:r>
            <a:b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터미널에서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Claude를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부르기까지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터미널 명령어 6개 → AIprojects 폴더 → Claude Code 호출 → PATH 트러블슈팅 → GitHub 설정.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step-1-terminal-vocab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TERMINAL 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터미널, 6개 단어로 충분.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cmd · PowerShell · macOS Terminal — 같은 동작인데 단어가 살짝 다릅니다. 같이 보세요.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solidFill>
            <a:srgbClr val="E0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114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114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PowerShell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14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macOS Terminal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12700">
            <a:solidFill>
              <a:srgbClr val="0E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48056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현재 위치 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48056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48056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pwd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805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pwd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764024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8097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내용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8097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8097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ls   (또는 dir)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8097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093208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513892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만들기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1389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md AIprojects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1389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mkdir AIprojects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1389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mkdir AIprojects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422392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546811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안으로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468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468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46811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5751576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579729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상위 폴더로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79729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79729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79729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080760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61264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삭제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612648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rd AIprojects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612648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rmdir AIprojects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61264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rm -r AIprojects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5609D97-9074-731F-8460-58832D8BE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33" b="-1"/>
          <a:stretch>
            <a:fillRect/>
          </a:stretch>
        </p:blipFill>
        <p:spPr>
          <a:xfrm>
            <a:off x="6528471" y="1508115"/>
            <a:ext cx="5391662" cy="13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step-2-make-aiprojects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MAKE  &amp; 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6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AIprojects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만들고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들어가기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본인 진료·연구 AI 도구를 모을 폴더. 이름은 뭐든 좋습니다 — 일단 AIprojects로 통일.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 또는 Terminal에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~                    # 홈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폴더로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(Windows: cd %USERPROFILE%)</a:t>
            </a: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mkdir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      #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폴더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만들기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         # 그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안으로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들어가기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홈 폴더에서 시작.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C:\Users\&lt;본인&gt;  (Windows) 또는 ~ (macOS)에서 만드는 게 깔끔.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이미 있으면 OK.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에러가 나도 괜찮음 — cd만 해도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프롬프트 확인.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프롬프트에 ...\AIprojects&gt; (또는 ~/AIprojects)가 보이면 들어간 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step-3-call-claude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CALL  CLAUDE 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— 부르면, 응답.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주의: Claude Desktop 앱 ≠ Claude Code. Desktop 설치해도 cmd엔 깔리지 않습니다. Code는 따로.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Code 설치 (한 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irm https://claude.ai/install.ps1 | iex     # Windows (PowerShell)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 --version                            # 설치 확인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                                      # AIprojects에서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Native installer.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2025년 10월 이후 권장 방식. Node.js 불필요. ~/.local/bin에 자동 설치.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macOS는 다름.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터미널에  curl -fsSL https://claude.ai/install.sh | 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AIprojects 안에서.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claude를 폴더 안에서 부르면, 그 폴더가 작업 컨텍스트가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step-4-path-fix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4  ·  CLAUDE  NOT 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not recognized 일 때.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설치는 됐는데 호출이 안 되면, PATH가 갱신 안 된 것. 순서대로 한 가지씩 시도.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PowerShell 새로 열기.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기존 창은 PATH 갱신 안 됨. 닫고 새 창. 80% 여기서 해결.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위치 확인.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Windows는 ~/.local/bin/claude.exe — 파일 자체는 있는지 탐색기로 확인.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271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User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PATH에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추가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500" b="0" dirty="0">
                <a:latin typeface="Inter"/>
                <a:ea typeface="Pretendard"/>
                <a:cs typeface="Inter"/>
              </a:rPr>
              <a:t>  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sysdm.cpl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</a:t>
            </a:r>
            <a:r>
              <a:rPr lang="en-US"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고급탭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5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→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환경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변수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User Path →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새로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만들기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%USERPROFILE%\.local\bin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재부팅이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마지막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카드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500" b="0" dirty="0">
                <a:latin typeface="Inter"/>
                <a:ea typeface="Pretendard"/>
                <a:cs typeface="Inter"/>
              </a:rPr>
              <a:t>  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그래도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되면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한 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재부팅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되면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총무에게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연락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—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같이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봅니다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6F73C53-177F-C57B-6D91-457A4E27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7" r="1330"/>
          <a:stretch>
            <a:fillRect/>
          </a:stretch>
        </p:blipFill>
        <p:spPr>
          <a:xfrm>
            <a:off x="6527346" y="920203"/>
            <a:ext cx="5396594" cy="23259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7550-2DF3-66FB-6188-4C0766BF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A65B44-31BF-3871-9F61-9C54A9D273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4C291-5B3D-E248-F3E7-4EF09EB4B787}"/>
              </a:ext>
            </a:extLst>
          </p:cNvPr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</a:t>
            </a:r>
          </a:p>
        </p:txBody>
      </p:sp>
      <p:pic>
        <p:nvPicPr>
          <p:cNvPr id="4" name="Picture 3" descr="sig_on_navy.png">
            <a:extLst>
              <a:ext uri="{FF2B5EF4-FFF2-40B4-BE49-F238E27FC236}">
                <a16:creationId xmlns:a16="http://schemas.microsoft.com/office/drawing/2014/main" id="{AB23D984-C381-0ED5-1FB6-C0135AB3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753BBD-149B-45EB-59AB-B33C28663AF8}"/>
              </a:ext>
            </a:extLst>
          </p:cNvPr>
          <p:cNvSpPr txBox="1"/>
          <p:nvPr/>
        </p:nvSpPr>
        <p:spPr>
          <a:xfrm>
            <a:off x="548640" y="2194560"/>
            <a:ext cx="7772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TERMINAL  →  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COD</a:t>
            </a: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E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X</a:t>
            </a: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 →  GITHUB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ED048-D28F-0D7B-B8F5-DE62E8BE043F}"/>
              </a:ext>
            </a:extLst>
          </p:cNvPr>
          <p:cNvSpPr txBox="1"/>
          <p:nvPr/>
        </p:nvSpPr>
        <p:spPr>
          <a:xfrm>
            <a:off x="548639" y="2606040"/>
            <a:ext cx="10971168" cy="2008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 on #3</a:t>
            </a:r>
            <a:b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터미널에서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C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odex 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를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부르기까지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581E1C1E-C178-A799-5AC1-4EA3DE2A14D8}"/>
              </a:ext>
            </a:extLst>
          </p:cNvPr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EED726-F06C-937D-8775-2BC49212E829}"/>
              </a:ext>
            </a:extLst>
          </p:cNvPr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터미널 명령어 6개 → AIprojects 폴더 → Claude Code 호출 → PATH 트러블슈팅 → GitHub 설정.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599D7-2813-0B55-C25A-94CE8A7B8DB1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  <p:extLst>
      <p:ext uri="{BB962C8B-B14F-4D97-AF65-F5344CB8AC3E}">
        <p14:creationId xmlns:p14="http://schemas.microsoft.com/office/powerpoint/2010/main" val="1960959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step-1-app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Codex 앱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Windows는 Microsoft Store, macOS는 Codex App 페이지에서 설치. 로그인은 ChatGPT 계정으로.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공식 다운로드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developers.openai.com/codex/app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Microsoft Store에서 Codex 검색 → 설치 → 실행.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Apple Silicon / Intel 중 본인 Mac에 맞는 빌드 선택.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로그인.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ChatGPT Plus/Pro/Business/Edu/Enterprise 계정으로 로그인.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1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step-2-cli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터미널에서 Codex 실행.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CLI는 현재 폴더의 코드를 읽고 수정할 수 있는 로컬 코딩 에이전트.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npm 설치 +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86868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npm i -g @openai/codex      # 설치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codex --version             # 설치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실행.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프로젝트 폴더로 이동한 뒤 codex 입력.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주의.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터미널은 "현재 폴더" 기준으로 작동하므로 폴더 위치를 먼저 확인.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step-3-windows-path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WINDOWS 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"codex가 안 돼요" 해결.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대부분은 npm 전역 설치 경로가 Windows PATH에 안 들어간 경우.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PowerShell에서 경로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npm config get prefix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PATH 열기.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시작 메뉴 → "환경 변수" 검색 → 사용자 변수 Path 편집.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589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경로 추가.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 명령 결과 폴더를 추가. 보통 C:\Users\이름\AppData\Roaming\npm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430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다시 열기.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PowerShell / VS Code를 완전히 닫고 새로 열기.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270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2706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확인.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codex --version 이 나오면 성공.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step-5-claude-does-github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5  ·  HAVE  CLAUDE  DO  IT  (KEY)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6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설정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Claude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/Codex 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가 다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합니다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 config · remote 설정 · 첫 push — 한국어로 부탁만 하면 됩니다. 이게 vibe coding의 진짜 모습.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안에서, 한국어로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내 이름은 Sungil Hwang, 이메일은 hwangsi@snubh.org야.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git config 설정해주고,  github.com/hwangsi/hello-world 에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지금 폴더를 연결해서 첫 push까지 해줘.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우리말로 충분.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Claude가 git 명령어를 만들고, 보여주고, 승인 받고 실행합니다.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PAT는 직접 입력.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토큰을 Claude에게 알려주지 마세요 — git이 묻는 창에 직접 붙여넣기.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그 다음부터.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"main에 commit하고 push해줘" 같이 한 줄로. 이게 본 모임이 향하는 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copy-paste-rescue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WHEN  STUCK  ·  COPY  /  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막혔을 때, 응급 복붙.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297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에러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메시지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스크린샷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— Claude</a:t>
            </a:r>
            <a:r>
              <a:rPr lang="en-US"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/Codex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한테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보여주는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가장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빠른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698480" cy="347472"/>
          </a:xfrm>
          <a:prstGeom prst="rect">
            <a:avLst/>
          </a:prstGeom>
          <a:solidFill>
            <a:srgbClr val="E0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9776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9776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279392"/>
            <a:ext cx="10698480" cy="0"/>
          </a:xfrm>
          <a:prstGeom prst="line">
            <a:avLst/>
          </a:prstGeom>
          <a:ln w="12700">
            <a:solidFill>
              <a:srgbClr val="0E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3159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텍스트 복사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3159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3159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608576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6451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텍스트 붙이기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6451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6451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937760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9743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화면 일부 캡처 → 클립보드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9743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Win + Shift +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9743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Shift + 4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266944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3035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채팅·일반 앱에 이미지 붙이기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035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596128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8640" y="5596128"/>
            <a:ext cx="10698480" cy="329184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63270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Code 터미널에 이미지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Alt +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10698480" cy="41148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1F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98932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Inter"/>
                <a:ea typeface="Pretendard"/>
                <a:cs typeface="Inter"/>
              </a:rPr>
              <a:t>안 되면 → </a:t>
            </a:r>
            <a:r>
              <a:rPr sz="1300" b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스크린샷을 파일로 저장 → Claude 창에 드래그 &amp; 드롭. </a:t>
            </a:r>
            <a:r>
              <a:rPr sz="1300" b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이 방법은 항상 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vibe-coding  ·  session  #1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YOUR  FIRST 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내가 쓰는 </a:t>
            </a: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Scoring system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  <a:p>
            <a:pPr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외래에서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매일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쓰는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계산기로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30분이면 본인 점수 한 개 → HTML 한 페이지. 비결은 점수를 Claude한테 잘 설명하기.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01-what-we-make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WHAT  WE'RE  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단일 HTML, 외래에 띄워두기.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환자 값 입력 → 점수 즉시 계산 → 위험도 + 다음 단계 권장. 빌드 도구 없음, 백엔드 없음, 단일 파일.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Input.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 변수 — 체크박스, 드롭다운, 숫자 입력 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Output.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 + 위험도 구간 + 권장 다음 검사·약·시술.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어디서나.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index.html 한 파일. 외래 PC에서 더블클릭, 폰 브라우저도 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매일 씁니다.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진료과에서 매번 손으로 계산하는 점수 1개 고르면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87FF080-9E77-B62C-357A-2B1C2120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29639"/>
            <a:ext cx="4240910" cy="27157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02-setup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만들고, Claude 호출.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폴더 이름은 본인 점수 약어로. 만들기 전에 점수 정의를 노트장에 미리 정리해두면 시작이 훨씬 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 또는 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mkdir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my-score-calc     &amp;&amp;  cd my-score-calc</a:t>
            </a: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이름.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점수 약어로 — 영문 + 하이픈. 예: psa-density, cha2ds2-vasc.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정의서 미리.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다음 슬라이드 4가지를 미리 종이/메모장에 정리. 그게 핵심.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점수는 본인 것.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강사 시연용 예시는 PSA density. 본인 점수에 맞춰 바꾸면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03-describe-well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DESCRIBE  WELL  (KEY)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점수 설명, 4가지가 필수.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하나라도 빠지면 Claude가 추측해서 틀립니다. 환자 안전과 직결되는 도구라 꼼꼼하게.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이름 + 출처.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점수명, 가능하면 논문 reference (저자·연도·저널). 동명이의 점수 방지.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입력 변수.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변수 이름 · 단위 · 정상범위 · 입력 방식 (숫자 / 체크박스 / 드롭다운). 단위 빠뜨리지 마세요.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계산식.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합산형 / 곱셈형 / 룩업 테이블 — 명시. 식이 있으면 식 그대로, 표면 표 그대로.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결과 해석.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구간별 의미 + 권장 다음 검사·약·시술. "고위험"으로 끝나지 말고 "→ 무엇"까지.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04-first-prompt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4  ·  FIRST 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이렇게 채워서 보내세요.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아래 형식 그대로 복사 → [대괄호] 부분만 본인 점수로 바꾸기. 예시는 PSA density.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안에서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69164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점수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계산기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HTML 한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페이지를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만들어줘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이름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[PSA density]  ·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출처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[Stamey 1989, J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Urol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입력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전립선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부피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(cc,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숫자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혈청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PSA (ng/mL,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숫자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계산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[PSA /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부피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결과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[&lt; 0.15 =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저위험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(6개월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재검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 / &gt;= 0.15 =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고위험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조직검사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index.html 한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파일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빌드도구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X.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모바일에서도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보기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좋게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72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단위 꼭 명시.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"체중" 아니라 "체중 (kg)". 단위 없으면 Claude가 추측해서 환자값이 틀어집니다.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446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구간 + 권장.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점수만으론 부족. "고위험"으로 끝내지 말고 "→ 권장 다음"까지 적기.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05-iterate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5  ·  ITERATE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결과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보고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다듬기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첫 결과는 거의 100% 부족합니다. 외래에서 실제 쓸 수 있을 때까지 다음 한 줄씩 부탁.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자주 쓰는 다듬기 부탁들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69164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글씨 더 크게. 외래 모니터에서 멀리서도 보이게.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결과가 고위험 구간일 때 빨간 배경으로 강조.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입력 칸 옆에 '?' 마크 — 호버하면 정상범위 표시.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인쇄 버튼 추가. 환자에게 줄 한 페이지로 깔끔하게.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모바일에서 입력 칸이 너무 작아. 폰에서도 편하게.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72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한 번에 한 가지.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여러 부탁이 섞이면 결과가 산만해짐. 디자인 → 검증 → 인쇄 순으로.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446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이상하면 한 줄.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"이 부분 다시" / "방금 거 되돌려" — Claude가 알아서 고침.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EE0D-F2A9-8A8D-82A0-28DFE455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D95732-A6EC-3BDE-A907-B9C6A232EA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1C38E6-3E8B-15C4-32F1-94FF2B5EBF9A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6F5879-78C9-9F14-7F82-1FCE4198A322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121B54-A33B-3F03-E427-2EC8A146FA77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F40E0-597E-891F-947F-7B6D39B7489D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6-example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3F7D07A2-A034-06D8-67E5-1B6A14DD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511B9B-D159-DCC7-7CA8-5E0A54B4EE74}"/>
              </a:ext>
            </a:extLst>
          </p:cNvPr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EXAMPLE</a:t>
            </a:r>
            <a:endParaRPr sz="1100" b="1" spc="132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2F330-EB7F-F1E3-9FE1-56D79687E939}"/>
              </a:ext>
            </a:extLst>
          </p:cNvPr>
          <p:cNvSpPr txBox="1"/>
          <p:nvPr/>
        </p:nvSpPr>
        <p:spPr>
          <a:xfrm>
            <a:off x="548640" y="2148840"/>
            <a:ext cx="10515600" cy="662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실례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92BAC713-B4BF-29A1-B1D8-6DBD8C94251B}"/>
              </a:ext>
            </a:extLst>
          </p:cNvPr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6071AA-A188-9DA9-CABA-9A883165403F}"/>
              </a:ext>
            </a:extLst>
          </p:cNvPr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91FD4C5-3B8C-F2A7-01B2-61E37C843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98" t="19483" b="8990"/>
          <a:stretch>
            <a:fillRect/>
          </a:stretch>
        </p:blipFill>
        <p:spPr>
          <a:xfrm>
            <a:off x="0" y="3017390"/>
            <a:ext cx="7824162" cy="19423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BD53C26-CDD9-07F4-4BEA-332656162287}"/>
              </a:ext>
            </a:extLst>
          </p:cNvPr>
          <p:cNvSpPr txBox="1"/>
          <p:nvPr/>
        </p:nvSpPr>
        <p:spPr>
          <a:xfrm>
            <a:off x="195757" y="913744"/>
            <a:ext cx="10974479" cy="33085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/>
              <a:t># Adrenal MRI Chemical Shift Calculator </a:t>
            </a:r>
            <a:r>
              <a:rPr lang="ko-KR" altLang="en-US" sz="1100" dirty="0"/>
              <a:t>제작 </a:t>
            </a:r>
            <a:r>
              <a:rPr lang="ko-KR" altLang="en-US" sz="1100" dirty="0" err="1"/>
              <a:t>지시문</a:t>
            </a:r>
            <a:endParaRPr lang="ko-KR" altLang="en-US" sz="1100" dirty="0"/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목적</a:t>
            </a:r>
          </a:p>
          <a:p>
            <a:r>
              <a:rPr lang="ko-KR" altLang="en-US" sz="1100" dirty="0"/>
              <a:t>부신 </a:t>
            </a:r>
            <a:r>
              <a:rPr lang="ko-KR" altLang="en-US" sz="1100" dirty="0" err="1"/>
              <a:t>종괴</a:t>
            </a:r>
            <a:r>
              <a:rPr lang="en-US" altLang="ko-KR" sz="1100" dirty="0"/>
              <a:t>(adrenal mass)</a:t>
            </a:r>
            <a:r>
              <a:rPr lang="ko-KR" altLang="en-US" sz="1100" dirty="0"/>
              <a:t>의 </a:t>
            </a:r>
            <a:r>
              <a:rPr lang="en-US" altLang="ko-KR" sz="1100" dirty="0"/>
              <a:t>in-phase / opposed-phase MRI signal intensity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입력받아</a:t>
            </a:r>
            <a:r>
              <a:rPr lang="ko-KR" altLang="en-US" sz="1100" dirty="0"/>
              <a:t> </a:t>
            </a:r>
            <a:r>
              <a:rPr lang="en-US" altLang="ko-KR" sz="1100" dirty="0"/>
              <a:t>signal intensity index (SII)</a:t>
            </a:r>
            <a:r>
              <a:rPr lang="ko-KR" altLang="en-US" sz="1100" dirty="0"/>
              <a:t>를 계산하고</a:t>
            </a:r>
            <a:r>
              <a:rPr lang="en-US" altLang="ko-KR" sz="1100" dirty="0"/>
              <a:t>, lipid-rich adenoma </a:t>
            </a:r>
            <a:r>
              <a:rPr lang="ko-KR" altLang="en-US" sz="1100" dirty="0"/>
              <a:t>여부를 판정하는 웹 계산기를 제작한다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기술 요구사항</a:t>
            </a:r>
          </a:p>
          <a:p>
            <a:r>
              <a:rPr lang="en-US" altLang="ko-KR" sz="1100" dirty="0"/>
              <a:t>- **</a:t>
            </a:r>
            <a:r>
              <a:rPr lang="ko-KR" altLang="en-US" sz="1100" dirty="0"/>
              <a:t>단일 </a:t>
            </a:r>
            <a:r>
              <a:rPr lang="en-US" altLang="ko-KR" sz="1100" dirty="0"/>
              <a:t>HTML </a:t>
            </a:r>
            <a:r>
              <a:rPr lang="ko-KR" altLang="en-US" sz="1100" dirty="0"/>
              <a:t>파일** </a:t>
            </a:r>
            <a:r>
              <a:rPr lang="en-US" altLang="ko-KR" sz="1100" dirty="0"/>
              <a:t>(`adrenal_calculator.html`) </a:t>
            </a:r>
            <a:r>
              <a:rPr lang="ko-KR" altLang="en-US" sz="1100" dirty="0"/>
              <a:t>하나로만 작성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외부 라이브러리</a:t>
            </a:r>
            <a:r>
              <a:rPr lang="en-US" altLang="ko-KR" sz="1100" dirty="0"/>
              <a:t>, CDN, </a:t>
            </a:r>
            <a:r>
              <a:rPr lang="ko-KR" altLang="en-US" sz="1100" dirty="0"/>
              <a:t>폰트 다운로드</a:t>
            </a:r>
            <a:r>
              <a:rPr lang="en-US" altLang="ko-KR" sz="1100" dirty="0"/>
              <a:t>, API </a:t>
            </a:r>
            <a:r>
              <a:rPr lang="ko-KR" altLang="en-US" sz="1100" dirty="0"/>
              <a:t>호출 일체 금지 </a:t>
            </a:r>
            <a:r>
              <a:rPr lang="en-US" altLang="ko-KR" sz="1100" dirty="0"/>
              <a:t>(</a:t>
            </a:r>
            <a:r>
              <a:rPr lang="ko-KR" altLang="en-US" sz="1100" dirty="0"/>
              <a:t>순수 </a:t>
            </a:r>
            <a:r>
              <a:rPr lang="en-US" altLang="ko-KR" sz="1100" dirty="0"/>
              <a:t>vanilla HTML + CSS + JavaScript)</a:t>
            </a:r>
          </a:p>
          <a:p>
            <a:r>
              <a:rPr lang="en-US" altLang="ko-KR" sz="1100" dirty="0"/>
              <a:t>- system font stack </a:t>
            </a:r>
            <a:r>
              <a:rPr lang="ko-KR" altLang="en-US" sz="1100" dirty="0"/>
              <a:t>사용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-apple-system, "</a:t>
            </a:r>
            <a:r>
              <a:rPr lang="en-US" altLang="ko-KR" sz="1100" dirty="0" err="1"/>
              <a:t>Pretendard</a:t>
            </a:r>
            <a:r>
              <a:rPr lang="en-US" altLang="ko-KR" sz="1100" dirty="0"/>
              <a:t>", "Apple SD Gothic Neo", "Segoe UI", sans-serif)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모바일</a:t>
            </a:r>
            <a:r>
              <a:rPr lang="en-US" altLang="ko-KR" sz="1100" dirty="0"/>
              <a:t>/</a:t>
            </a:r>
            <a:r>
              <a:rPr lang="ko-KR" altLang="en-US" sz="1100" dirty="0"/>
              <a:t>데스크톱 반응형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모든 라벨은 영문 우선</a:t>
            </a:r>
            <a:r>
              <a:rPr lang="en-US" altLang="ko-KR" sz="1100" dirty="0"/>
              <a:t>, </a:t>
            </a:r>
            <a:r>
              <a:rPr lang="ko-KR" altLang="en-US" sz="1100" dirty="0"/>
              <a:t>필요 시 한글 병기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입력 필드</a:t>
            </a:r>
          </a:p>
          <a:p>
            <a:r>
              <a:rPr lang="en-US" altLang="ko-KR" sz="1100" dirty="0"/>
              <a:t>1. **In-phase signal intensity** — </a:t>
            </a:r>
            <a:r>
              <a:rPr lang="ko-KR" altLang="en-US" sz="1100" dirty="0"/>
              <a:t>숫자 입력 </a:t>
            </a:r>
            <a:r>
              <a:rPr lang="en-US" altLang="ko-KR" sz="1100" dirty="0"/>
              <a:t>(</a:t>
            </a:r>
            <a:r>
              <a:rPr lang="ko-KR" altLang="en-US" sz="1100" dirty="0"/>
              <a:t>양수 실수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2. **Opposed-phase signal intensity** — </a:t>
            </a:r>
            <a:r>
              <a:rPr lang="ko-KR" altLang="en-US" sz="1100" dirty="0"/>
              <a:t>숫자 입력 </a:t>
            </a:r>
            <a:r>
              <a:rPr lang="en-US" altLang="ko-KR" sz="1100" dirty="0"/>
              <a:t>(</a:t>
            </a:r>
            <a:r>
              <a:rPr lang="ko-KR" altLang="en-US" sz="1100" dirty="0"/>
              <a:t>양수 실수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3. **Calculate** </a:t>
            </a:r>
            <a:r>
              <a:rPr lang="ko-KR" altLang="en-US" sz="1100" dirty="0"/>
              <a:t>버튼</a:t>
            </a:r>
          </a:p>
          <a:p>
            <a:r>
              <a:rPr lang="en-US" altLang="ko-KR" sz="1100" dirty="0"/>
              <a:t>4. **Reset** </a:t>
            </a:r>
            <a:r>
              <a:rPr lang="ko-KR" altLang="en-US" sz="1100" dirty="0"/>
              <a:t>버튼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계산 공식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EE1C0-1904-B9A1-D4FB-745E007375E9}"/>
              </a:ext>
            </a:extLst>
          </p:cNvPr>
          <p:cNvSpPr txBox="1"/>
          <p:nvPr/>
        </p:nvSpPr>
        <p:spPr>
          <a:xfrm>
            <a:off x="5572880" y="411480"/>
            <a:ext cx="6619120" cy="6863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/>
              <a:t>## </a:t>
            </a:r>
            <a:r>
              <a:rPr lang="ko-KR" altLang="en-US" sz="1100" dirty="0"/>
              <a:t>판정 기준</a:t>
            </a:r>
          </a:p>
          <a:p>
            <a:r>
              <a:rPr lang="en-US" altLang="ko-KR" sz="1100" dirty="0"/>
              <a:t>- **SII &gt; 16.5%** → `Compatible with adenoma` (</a:t>
            </a:r>
            <a:r>
              <a:rPr lang="ko-KR" altLang="en-US" sz="1100" dirty="0"/>
              <a:t>긍정</a:t>
            </a:r>
            <a:r>
              <a:rPr lang="en-US" altLang="ko-KR" sz="1100" dirty="0"/>
              <a:t>/</a:t>
            </a:r>
            <a:r>
              <a:rPr lang="ko-KR" altLang="en-US" sz="1100" dirty="0"/>
              <a:t>녹색 톤</a:t>
            </a:r>
            <a:r>
              <a:rPr lang="en-US" altLang="ko-KR" sz="1100" dirty="0"/>
              <a:t>, </a:t>
            </a:r>
            <a:r>
              <a:rPr lang="ko-KR" altLang="en-US" sz="1100" dirty="0"/>
              <a:t>예</a:t>
            </a:r>
            <a:r>
              <a:rPr lang="en-US" altLang="ko-KR" sz="1100" dirty="0"/>
              <a:t>: #0a7a3f </a:t>
            </a:r>
            <a:r>
              <a:rPr lang="ko-KR" altLang="en-US" sz="1100" dirty="0"/>
              <a:t>또는 </a:t>
            </a:r>
            <a:r>
              <a:rPr lang="en-US" altLang="ko-KR" sz="1100" dirty="0"/>
              <a:t>navy </a:t>
            </a:r>
            <a:r>
              <a:rPr lang="ko-KR" altLang="en-US" sz="1100" dirty="0"/>
              <a:t>계열 강조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- **SII ≤ 16.5%** → `No adenoma` (</a:t>
            </a:r>
            <a:r>
              <a:rPr lang="ko-KR" altLang="en-US" sz="1100" dirty="0"/>
              <a:t>주의</a:t>
            </a:r>
            <a:r>
              <a:rPr lang="en-US" altLang="ko-KR" sz="1100" dirty="0"/>
              <a:t>/</a:t>
            </a:r>
            <a:r>
              <a:rPr lang="ko-KR" altLang="en-US" sz="1100" dirty="0"/>
              <a:t>적색 톤</a:t>
            </a:r>
            <a:r>
              <a:rPr lang="en-US" altLang="ko-KR" sz="1100" dirty="0"/>
              <a:t>, </a:t>
            </a:r>
            <a:r>
              <a:rPr lang="ko-KR" altLang="en-US" sz="1100" dirty="0"/>
              <a:t>예</a:t>
            </a:r>
            <a:r>
              <a:rPr lang="en-US" altLang="ko-KR" sz="1100" dirty="0"/>
              <a:t>: #b3261e)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출력 표시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계산된 </a:t>
            </a:r>
            <a:r>
              <a:rPr lang="en-US" altLang="ko-KR" sz="1100" dirty="0"/>
              <a:t>SII </a:t>
            </a:r>
            <a:r>
              <a:rPr lang="ko-KR" altLang="en-US" sz="1100" dirty="0"/>
              <a:t>값을 **소수점 둘째자리까지</a:t>
            </a:r>
            <a:r>
              <a:rPr lang="en-US" altLang="ko-KR" sz="1100" dirty="0"/>
              <a:t>, % </a:t>
            </a:r>
            <a:r>
              <a:rPr lang="ko-KR" altLang="en-US" sz="1100" dirty="0"/>
              <a:t>단위**로 표시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`23.45%`)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판정 결과를 큰 글씨 박스로 강조</a:t>
            </a:r>
          </a:p>
          <a:p>
            <a:r>
              <a:rPr lang="en-US" altLang="ko-KR" sz="1100" dirty="0"/>
              <a:t>- cutoff </a:t>
            </a:r>
            <a:r>
              <a:rPr lang="ko-KR" altLang="en-US" sz="1100" dirty="0"/>
              <a:t>값</a:t>
            </a:r>
            <a:r>
              <a:rPr lang="en-US" altLang="ko-KR" sz="1100" dirty="0"/>
              <a:t>(16.5%)</a:t>
            </a:r>
            <a:r>
              <a:rPr lang="ko-KR" altLang="en-US" sz="1100" dirty="0"/>
              <a:t>을 결과 박스 하단에 작은 글씨로 명시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결과 영역은 초기에는 숨김</a:t>
            </a:r>
            <a:r>
              <a:rPr lang="en-US" altLang="ko-KR" sz="1100" dirty="0"/>
              <a:t>(hidden), </a:t>
            </a:r>
            <a:r>
              <a:rPr lang="ko-KR" altLang="en-US" sz="1100" dirty="0"/>
              <a:t>계산 후에 표시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예외 처리</a:t>
            </a:r>
          </a:p>
          <a:p>
            <a:r>
              <a:rPr lang="en-US" altLang="ko-KR" sz="1100" dirty="0"/>
              <a:t>- In-phase SI = 0 → "In-phase signal intensity must be greater than 0" </a:t>
            </a:r>
            <a:r>
              <a:rPr lang="ko-KR" altLang="en-US" sz="1100" dirty="0"/>
              <a:t>경고 표시 후 계산 중단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음수 입력 → 차단 </a:t>
            </a:r>
            <a:r>
              <a:rPr lang="en-US" altLang="ko-KR" sz="1100" dirty="0"/>
              <a:t>(`min="0"`) </a:t>
            </a:r>
            <a:r>
              <a:rPr lang="ko-KR" altLang="en-US" sz="1100" dirty="0"/>
              <a:t>및 경고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빈 입력 또는 </a:t>
            </a:r>
            <a:r>
              <a:rPr lang="ko-KR" altLang="en-US" sz="1100" dirty="0" err="1"/>
              <a:t>비숫자</a:t>
            </a:r>
            <a:r>
              <a:rPr lang="ko-KR" altLang="en-US" sz="1100" dirty="0"/>
              <a:t> → </a:t>
            </a:r>
            <a:r>
              <a:rPr lang="en-US" altLang="ko-KR" sz="1100" dirty="0"/>
              <a:t>"Please enter valid numeric values" </a:t>
            </a:r>
            <a:r>
              <a:rPr lang="ko-KR" altLang="en-US" sz="1100" dirty="0"/>
              <a:t>안내</a:t>
            </a:r>
          </a:p>
          <a:p>
            <a:r>
              <a:rPr lang="en-US" altLang="ko-KR" sz="1100" dirty="0"/>
              <a:t>- Opposed-phase &gt; In-phase </a:t>
            </a:r>
            <a:r>
              <a:rPr lang="ko-KR" altLang="en-US" sz="1100" dirty="0"/>
              <a:t>인 경우에도 음수 </a:t>
            </a:r>
            <a:r>
              <a:rPr lang="en-US" altLang="ko-KR" sz="1100" dirty="0"/>
              <a:t>SII</a:t>
            </a:r>
            <a:r>
              <a:rPr lang="ko-KR" altLang="en-US" sz="1100" dirty="0"/>
              <a:t>를 그대로 계산해 표시하되</a:t>
            </a:r>
            <a:r>
              <a:rPr lang="en-US" altLang="ko-KR" sz="1100" dirty="0"/>
              <a:t>, </a:t>
            </a:r>
            <a:r>
              <a:rPr lang="ko-KR" altLang="en-US" sz="1100" dirty="0"/>
              <a:t>자동으로 </a:t>
            </a:r>
            <a:r>
              <a:rPr lang="en-US" altLang="ko-KR" sz="1100" dirty="0"/>
              <a:t>`No adenoma`</a:t>
            </a:r>
            <a:r>
              <a:rPr lang="ko-KR" altLang="en-US" sz="1100" dirty="0"/>
              <a:t>로 판정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UI/UX </a:t>
            </a:r>
            <a:r>
              <a:rPr lang="ko-KR" altLang="en-US" sz="1100" dirty="0"/>
              <a:t>가이드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임상 도구다운 차분한 톤 </a:t>
            </a:r>
            <a:r>
              <a:rPr lang="en-US" altLang="ko-KR" sz="1100" dirty="0"/>
              <a:t>(</a:t>
            </a:r>
            <a:r>
              <a:rPr lang="ko-KR" altLang="en-US" sz="1100" dirty="0"/>
              <a:t>배경 흰색 또는 매우 옅은 회색</a:t>
            </a:r>
            <a:r>
              <a:rPr lang="en-US" altLang="ko-KR" sz="1100" dirty="0"/>
              <a:t>, </a:t>
            </a:r>
            <a:r>
              <a:rPr lang="ko-KR" altLang="en-US" sz="1100" dirty="0"/>
              <a:t>강조는 </a:t>
            </a:r>
            <a:r>
              <a:rPr lang="en-US" altLang="ko-KR" sz="1100" dirty="0"/>
              <a:t>SNUBH navy </a:t>
            </a:r>
            <a:r>
              <a:rPr lang="ko-KR" altLang="en-US" sz="1100" dirty="0"/>
              <a:t>계열 </a:t>
            </a:r>
            <a:r>
              <a:rPr lang="en-US" altLang="ko-KR" sz="1100" dirty="0"/>
              <a:t>#1a2b5e </a:t>
            </a:r>
            <a:r>
              <a:rPr lang="ko-KR" altLang="en-US" sz="1100" dirty="0"/>
              <a:t>권장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헤더에 타이틀</a:t>
            </a:r>
            <a:r>
              <a:rPr lang="en-US" altLang="ko-KR" sz="1100" dirty="0"/>
              <a:t>: **"Adrenal Chemical Shift MRI Calculator"**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서브타이틀</a:t>
            </a:r>
            <a:r>
              <a:rPr lang="en-US" altLang="ko-KR" sz="1100" dirty="0"/>
              <a:t>(</a:t>
            </a:r>
            <a:r>
              <a:rPr lang="ko-KR" altLang="en-US" sz="1100" dirty="0"/>
              <a:t>작게</a:t>
            </a:r>
            <a:r>
              <a:rPr lang="en-US" altLang="ko-KR" sz="1100" dirty="0"/>
              <a:t>): "In-phase / Opposed-phase Signal Intensity Index"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입력 박스는 크고 가독성 있게</a:t>
            </a:r>
            <a:r>
              <a:rPr lang="en-US" altLang="ko-KR" sz="1100" dirty="0"/>
              <a:t>, label</a:t>
            </a:r>
            <a:r>
              <a:rPr lang="ko-KR" altLang="en-US" sz="1100" dirty="0"/>
              <a:t>은 입력 위쪽에 배치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카드</a:t>
            </a:r>
            <a:r>
              <a:rPr lang="en-US" altLang="ko-KR" sz="1100" dirty="0"/>
              <a:t>(box) </a:t>
            </a:r>
            <a:r>
              <a:rPr lang="ko-KR" altLang="en-US" sz="1100" dirty="0"/>
              <a:t>레이아웃</a:t>
            </a:r>
            <a:r>
              <a:rPr lang="en-US" altLang="ko-KR" sz="1100" dirty="0"/>
              <a:t>, </a:t>
            </a:r>
            <a:r>
              <a:rPr lang="ko-KR" altLang="en-US" sz="1100" dirty="0"/>
              <a:t>둥근 모서리</a:t>
            </a:r>
            <a:r>
              <a:rPr lang="en-US" altLang="ko-KR" sz="1100" dirty="0"/>
              <a:t>(border-radius 12px </a:t>
            </a:r>
            <a:r>
              <a:rPr lang="ko-KR" altLang="en-US" sz="1100" dirty="0"/>
              <a:t>정도</a:t>
            </a:r>
            <a:r>
              <a:rPr lang="en-US" altLang="ko-KR" sz="1100" dirty="0"/>
              <a:t>), </a:t>
            </a:r>
            <a:r>
              <a:rPr lang="ko-KR" altLang="en-US" sz="1100" dirty="0"/>
              <a:t>가벼운 </a:t>
            </a:r>
            <a:r>
              <a:rPr lang="en-US" altLang="ko-KR" sz="1100" dirty="0"/>
              <a:t>shadow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버튼은 </a:t>
            </a:r>
            <a:r>
              <a:rPr lang="en-US" altLang="ko-KR" sz="1100" dirty="0"/>
              <a:t>primary(Calculate) / secondary(Reset) </a:t>
            </a:r>
            <a:r>
              <a:rPr lang="ko-KR" altLang="en-US" sz="1100" dirty="0"/>
              <a:t>구분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 err="1"/>
              <a:t>푸터</a:t>
            </a:r>
            <a:r>
              <a:rPr lang="ko-KR" altLang="en-US" sz="1100" dirty="0"/>
              <a:t> </a:t>
            </a:r>
            <a:r>
              <a:rPr lang="en-US" altLang="ko-KR" sz="1100" dirty="0"/>
              <a:t>/ </a:t>
            </a:r>
            <a:r>
              <a:rPr lang="ko-KR" altLang="en-US" sz="1100" dirty="0"/>
              <a:t>학술적 표기</a:t>
            </a:r>
          </a:p>
          <a:p>
            <a:r>
              <a:rPr lang="ko-KR" altLang="en-US" sz="1100" dirty="0"/>
              <a:t>화면 하단에 작은 글씨로 다음 문구를 포함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&gt; Reference: Signal intensity index = 100 × (in-phase SI − opposed-phase SI) / in-phase SI.  </a:t>
            </a:r>
          </a:p>
          <a:p>
            <a:r>
              <a:rPr lang="en-US" altLang="ko-KR" sz="1100" dirty="0"/>
              <a:t>&gt; A value &gt; 16.5% is compatible with lipid-rich adrenal adenoma on chemical shift MRI.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저작자 표기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&gt; Department of Radiology, Seoul National University Bundang Hospital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추가 동작</a:t>
            </a:r>
          </a:p>
          <a:p>
            <a:r>
              <a:rPr lang="en-US" altLang="ko-KR" sz="1100" dirty="0"/>
              <a:t>- Enter </a:t>
            </a:r>
            <a:r>
              <a:rPr lang="ko-KR" altLang="en-US" sz="1100" dirty="0"/>
              <a:t>키로도 </a:t>
            </a:r>
            <a:r>
              <a:rPr lang="en-US" altLang="ko-KR" sz="1100" dirty="0"/>
              <a:t>Calculate</a:t>
            </a:r>
            <a:r>
              <a:rPr lang="ko-KR" altLang="en-US" sz="1100" dirty="0"/>
              <a:t>가 동작하도록 </a:t>
            </a:r>
            <a:r>
              <a:rPr lang="en-US" altLang="ko-KR" sz="1100" dirty="0"/>
              <a:t>keyboard handler </a:t>
            </a:r>
            <a:r>
              <a:rPr lang="ko-KR" altLang="en-US" sz="1100" dirty="0"/>
              <a:t>추가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 err="1"/>
              <a:t>입력값이</a:t>
            </a:r>
            <a:r>
              <a:rPr lang="ko-KR" altLang="en-US" sz="1100" dirty="0"/>
              <a:t> 바뀌면 이전 결과는 자동으로 숨기거나 회색 처리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코드 내부에 간단한 주석으로 공식과 </a:t>
            </a:r>
            <a:r>
              <a:rPr lang="en-US" altLang="ko-KR" sz="1100" dirty="0"/>
              <a:t>cutoff </a:t>
            </a:r>
            <a:r>
              <a:rPr lang="ko-KR" altLang="en-US" sz="1100" dirty="0"/>
              <a:t>출처를 명시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산출물</a:t>
            </a:r>
          </a:p>
          <a:p>
            <a:r>
              <a:rPr lang="en-US" altLang="ko-KR" sz="1100" dirty="0"/>
              <a:t>- `adrenal_calculator.html` </a:t>
            </a:r>
            <a:r>
              <a:rPr lang="ko-KR" altLang="en-US" sz="1100" dirty="0"/>
              <a:t>한 개 파일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브라우저에서 더블클릭만으로 동작해야 함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4AF89EB-9A8D-1130-43E2-BD39D4A1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4" y="5105749"/>
            <a:ext cx="8548007" cy="91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6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C9B4-6E50-15B4-3404-53B90E86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AB7BBB-4198-665C-533A-C5222280A4B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38BBCC-9044-856F-5798-3FB8B0496883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1E6E34-59D3-1FC5-D507-C59E85FEA313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89EBD2-4400-03DA-D7C7-F297FCCBB0FE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11728-2081-CEF5-4A90-F5F02F687066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lang="en-US" sz="105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example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B39A8530-D75A-EA04-7F8E-E0DE8034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938A7D-5C60-FDCE-5A8E-F0AA1194B3D4}"/>
              </a:ext>
            </a:extLst>
          </p:cNvPr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8A5C38-96B6-C5B4-1F47-134E90DA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1015637"/>
            <a:ext cx="3815936" cy="53544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C1C24-D48C-B63C-4085-36E378A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793" y="862673"/>
            <a:ext cx="7481207" cy="33222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912E313-6FC3-8C12-DFBB-D115BB5C6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794" y="4184965"/>
            <a:ext cx="4302578" cy="261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09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vibe-coding  ·  done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LIVES  IN  YOUR 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내가 만든 계산기,</a:t>
            </a:r>
          </a:p>
          <a:p>
            <a:pPr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외래에 살아있다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index.html을 외래 컴퓨터 바탕화면에. 더블클릭으로 매일 사용.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동료에게 공유: GitHub repo로 commit하면 URL 하나로 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다음 점수도 같은 방식으로. AIprojects/ 안에 폴더 하나씩 늘어납니다.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96DB7-0DCB-D4EC-789F-A1F474A5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B9272A-75FB-8D82-6C0D-D01B95DE86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FAF733-95F3-3608-E200-56F999706078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AA2068-0D79-B672-D6B2-AAD4608924A5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B0AF61-F0F3-7BAA-D771-C3D32E23230A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67BBC-5698-8C2D-7595-5374343B1450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/ next month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8F4EC8C4-7053-B9DA-2399-D202C98B6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7907C-10A4-21DB-30FE-E548C7C6FA51}"/>
              </a:ext>
            </a:extLst>
          </p:cNvPr>
          <p:cNvSpPr txBox="1"/>
          <p:nvPr/>
        </p:nvSpPr>
        <p:spPr>
          <a:xfrm>
            <a:off x="548640" y="2148840"/>
            <a:ext cx="10515600" cy="769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차기 모임 예고</a:t>
            </a:r>
            <a:endParaRPr sz="48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45F76-9E66-5CC3-239B-74B1D6B32F3C}"/>
              </a:ext>
            </a:extLst>
          </p:cNvPr>
          <p:cNvSpPr txBox="1"/>
          <p:nvPr/>
        </p:nvSpPr>
        <p:spPr>
          <a:xfrm>
            <a:off x="548640" y="3429000"/>
            <a:ext cx="10515600" cy="1741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6/23 (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화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) 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오후 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5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장소 추후 공지</a:t>
            </a:r>
            <a:endParaRPr lang="en-US" altLang="ko-KR" sz="2000" b="1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강사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: 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남유진 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(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서울아산병원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)</a:t>
            </a:r>
          </a:p>
          <a:p>
            <a:pPr algn="l">
              <a:lnSpc>
                <a:spcPct val="145000"/>
              </a:lnSpc>
            </a:pP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내용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: Skills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의 실제 및 </a:t>
            </a:r>
            <a:r>
              <a:rPr lang="en-US" altLang="ko-KR" sz="2000" b="1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medsci</a:t>
            </a: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-skills </a:t>
            </a:r>
            <a:r>
              <a:rPr lang="ko-KR" altLang="en-US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소개</a:t>
            </a:r>
            <a:b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</a:br>
            <a:r>
              <a:rPr lang="en-US" altLang="ko-KR" sz="2000" b="1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https://github.com/Aperivue/medsci-skills</a:t>
            </a:r>
            <a:endParaRPr sz="2000" b="1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DBE883-91B2-A7E3-81B0-55263C3B8AAE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</p:spTree>
    <p:extLst>
      <p:ext uri="{BB962C8B-B14F-4D97-AF65-F5344CB8AC3E}">
        <p14:creationId xmlns:p14="http://schemas.microsoft.com/office/powerpoint/2010/main" val="3308564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3A8F-DCF6-04CA-E9B8-06156E18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83E97B-5CC3-7F84-BF53-E47F089EB64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6F6540-A2DF-9054-73F4-124E313494C1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936139-BE8C-F935-E1F8-801CBD11C927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484277-E586-C2A1-3030-43A9E166EF26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BADD2-6F8E-E6E8-2C4E-B65D7755C83D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693A54C7-67A1-E1C4-4810-967F7714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FBAA7B-CF15-7089-1DE7-2BB9862F14E7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59D0E8-2E98-FDCA-283A-92C6C9DE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30" y="0"/>
            <a:ext cx="11384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52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3F5C-A5F4-9681-7367-BAB36DC1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C7814D-0F75-3202-77D3-A987126B10F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E3A61B-EB1D-3AE4-3D60-ABED4F1E1F47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C1A294-40CC-1046-7204-5F937BAA6A3D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99F228-13D6-8F02-F49E-6FC737D6B20E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65DC5-0BD5-23A6-0727-E60DD5809AC8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07FD354C-BDDA-5A1E-D5D6-AA39570B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7AE5B3A-B0E4-5964-5A9A-49D6D886C591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084D64-DEE2-1795-100E-90B476451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8" y="1015637"/>
            <a:ext cx="5796951" cy="26626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BEF689-E815-8E7B-C860-05F2413B8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8970"/>
            <a:ext cx="5852328" cy="2374795"/>
          </a:xfrm>
          <a:prstGeom prst="rect">
            <a:avLst/>
          </a:prstGeom>
        </p:spPr>
      </p:pic>
      <p:pic>
        <p:nvPicPr>
          <p:cNvPr id="1026" name="Picture 2" descr="청사진, 문구: '[경피적 신장 증괴 Assessment 환자에서 생검으로 확인된 악성 종양 검출률 Diopsy-Confimed Malgnancy Patients Referre Ablations Version No: RenalAblation_ ercutaneous Renal 선정기준이 미상 [TODO: 책임연구자 주요 제외기준이 [TODO 성명]서 돌격적 분석방법: 연구제목 世司 연구제목 (영문]· besti Malignency Rate Ablatien: srgle-Center Fatiznts 섭겹으로 TOBO Cohort 예속인지일 눕시대 연구계획서+ 익신 제목 김신적영신학적 측인자 폭학유 현글:섭피석 대삼자 취약한 연구대상자: 소삭숲 시명 화자에서 삶섬으로 화인닉 낭사람 있음금 돌냠 서춘료 Malignancy Retrospective Cohort รอง Peroutaneous 연구 당연+ 실시기관 밍칭 편신화된 추출팩으로 김시관과를 분단서울대학교법원, 조념한감 성남시 구미로 공동연구자 성명 TODO: 성평, TODO: 부시] TODO: 공동연구자: 민부 ITOCO: 부시] ITODO: 칙민 oAo 성명], (ToCO: 구서] nOBO: 희명]''의 이미지일 수 있음">
            <a:extLst>
              <a:ext uri="{FF2B5EF4-FFF2-40B4-BE49-F238E27FC236}">
                <a16:creationId xmlns:a16="http://schemas.microsoft.com/office/drawing/2014/main" id="{0A3D4FCD-AE45-8F9C-57A8-092CE98B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326" y="1313727"/>
            <a:ext cx="6304491" cy="402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1846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15FB-5C05-222C-AD16-286BF4EE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B631C1-B7B5-C3BA-858B-DD486EB82B8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21FDA5-D5EE-831B-1F42-2FCAE2568A72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F3551F-33FA-4125-9E42-C2BD991FA048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1BFDC1-1A15-31D6-353F-D8D4E7B1250B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EB30F-437C-E1F8-965B-DBCBCA9319CB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B79D06D3-8C01-528B-3DAD-A0758CA34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4BB57C-6291-3539-A1DE-9A9B752A152A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2050" name="Picture 2" descr="텍스트의 이미지일 수 있음">
            <a:extLst>
              <a:ext uri="{FF2B5EF4-FFF2-40B4-BE49-F238E27FC236}">
                <a16:creationId xmlns:a16="http://schemas.microsoft.com/office/drawing/2014/main" id="{1015CC50-70DD-BA89-4BDB-B23C522B2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5" y="884873"/>
            <a:ext cx="12192000" cy="542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136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2026.05.27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FIRST MEETING  ·  WED 17:00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974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감사합니다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972800" cy="25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00" b="0" spc="132" dirty="0" err="1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회장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황성일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   </a:t>
            </a:r>
            <a:r>
              <a:rPr sz="1300" b="0" dirty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·</a:t>
            </a:r>
            <a:r>
              <a:rPr sz="1100" b="0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  </a:t>
            </a:r>
            <a:r>
              <a:rPr sz="1100" b="0" spc="132" dirty="0" err="1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총무</a:t>
            </a:r>
            <a:r>
              <a:rPr sz="1100" b="0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전기현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순환기내과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), 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임헌종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</a:t>
            </a:r>
            <a:r>
              <a:rPr 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8FA3C2"/>
                </a:solidFill>
                <a:effectLst/>
                <a:uLnTx/>
                <a:uFillTx/>
                <a:latin typeface="Inter"/>
                <a:ea typeface="Pretendard"/>
                <a:cs typeface="Inter"/>
              </a:rPr>
              <a:t>·</a:t>
            </a:r>
            <a:r>
              <a:rPr 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  </a:t>
            </a:r>
            <a:r>
              <a:rPr kumimoji="0" lang="ko-KR" altLang="en-US" sz="1100" b="0" i="0" u="none" strike="noStrike" kern="1200" cap="none" spc="132" normalizeH="0" baseline="0" noProof="0" dirty="0">
                <a:ln>
                  <a:noFill/>
                </a:ln>
                <a:solidFill>
                  <a:srgbClr val="8FA3C2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</a:rPr>
              <a:t>기술자문 </a:t>
            </a:r>
            <a:r>
              <a:rPr lang="ko-KR" altLang="en-US"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이경준</a:t>
            </a:r>
            <a:r>
              <a:rPr lang="ko-KR" alt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en-US" altLang="ko-KR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(</a:t>
            </a:r>
            <a:r>
              <a:rPr lang="ko-KR" alt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lang="en-US" altLang="ko-KR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, Monitor Corp CTO) </a:t>
            </a:r>
            <a:endParaRPr sz="1300" b="1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github.com / snubh-vibe-lab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FE4418-815D-77AB-1D1F-0A8C0672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422" y="1150021"/>
            <a:ext cx="6282018" cy="4403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5711</TotalTime>
  <Words>4604</Words>
  <Application>Microsoft Office PowerPoint</Application>
  <PresentationFormat>와이드스크린</PresentationFormat>
  <Paragraphs>615</Paragraphs>
  <Slides>51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Inter</vt:lpstr>
      <vt:lpstr>JetBrains Mono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Sungil Hwang</dc:creator>
  <cp:keywords/>
  <dc:description>generated using python-pptx</dc:description>
  <cp:lastModifiedBy>Sungil Hwang</cp:lastModifiedBy>
  <cp:revision>18</cp:revision>
  <dcterms:created xsi:type="dcterms:W3CDTF">2013-01-27T09:14:16Z</dcterms:created>
  <dcterms:modified xsi:type="dcterms:W3CDTF">2026-05-30T03:50:45Z</dcterms:modified>
  <cp:category/>
</cp:coreProperties>
</file>